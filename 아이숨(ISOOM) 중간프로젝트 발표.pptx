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Noto Sans KR" panose="020B0200000000000000" pitchFamily="50" charset="-127"/>
      <p:regular r:id="rId15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2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27247-0AFA-4EF8-A52F-DDFC503B757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EC7C-D221-47EF-BE63-341EFEB894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438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8633A-D105-4ECD-A602-63B23741A29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86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yeongsik0914/iso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A0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724876" y="457200"/>
            <a:ext cx="1857523" cy="419100"/>
          </a:xfrm>
          <a:prstGeom prst="roundRect">
            <a:avLst>
              <a:gd name="adj" fmla="val 27272"/>
            </a:avLst>
          </a:prstGeom>
          <a:solidFill>
            <a:srgbClr val="F5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195762"/>
            <a:ext cx="7048500" cy="19050"/>
          </a:xfrm>
          <a:prstGeom prst="rect">
            <a:avLst/>
          </a:prstGeom>
          <a:solidFill>
            <a:srgbClr val="FFFF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2505075"/>
            <a:ext cx="2095500" cy="2095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05876" y="566736"/>
            <a:ext cx="141937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2B8A87"/>
                </a:solidFill>
                <a:latin typeface="Noto Sans KR"/>
              </a:rPr>
              <a:t>ISOOM </a:t>
            </a:r>
            <a:r>
              <a:rPr sz="1350" b="1" i="0" u="none" dirty="0" err="1">
                <a:solidFill>
                  <a:srgbClr val="2B8A87"/>
                </a:solidFill>
                <a:latin typeface="Noto Sans KR"/>
              </a:rPr>
              <a:t>아이숨</a:t>
            </a:r>
            <a:endParaRPr sz="1350" b="1" i="0" u="none" dirty="0">
              <a:solidFill>
                <a:srgbClr val="2B8A87"/>
              </a:solidFill>
              <a:latin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2452687"/>
            <a:ext cx="301685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 smtClean="0">
                <a:solidFill>
                  <a:srgbClr val="F8FAFC"/>
                </a:solidFill>
                <a:latin typeface="Noto Sans KR"/>
              </a:rPr>
              <a:t>소아</a:t>
            </a:r>
            <a:r>
              <a:rPr lang="ko-KR" altLang="en-US" sz="1500" b="1" dirty="0" smtClean="0">
                <a:solidFill>
                  <a:srgbClr val="F8FAFC"/>
                </a:solidFill>
                <a:latin typeface="Noto Sans KR"/>
              </a:rPr>
              <a:t>병동을 지키는 의료 </a:t>
            </a:r>
            <a:r>
              <a:rPr lang="en-US" altLang="ko-KR" sz="1500" b="1" dirty="0" smtClean="0">
                <a:solidFill>
                  <a:srgbClr val="F8FAFC"/>
                </a:solidFill>
                <a:latin typeface="Noto Sans KR"/>
              </a:rPr>
              <a:t>AI AGENTS</a:t>
            </a:r>
            <a:endParaRPr sz="1500" b="1" i="0" u="none" dirty="0">
              <a:solidFill>
                <a:srgbClr val="F8FAFC"/>
              </a:solidFill>
              <a:latin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2843212"/>
            <a:ext cx="8301037" cy="1631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400" b="1" dirty="0" smtClean="0">
                <a:solidFill>
                  <a:srgbClr val="FFFFFF"/>
                </a:solidFill>
                <a:latin typeface="Noto Sans KR"/>
              </a:rPr>
              <a:t>KTAS </a:t>
            </a:r>
            <a:r>
              <a:rPr lang="ko-KR" altLang="en-US" sz="4400" b="1" dirty="0" smtClean="0">
                <a:solidFill>
                  <a:srgbClr val="FFFFFF"/>
                </a:solidFill>
                <a:latin typeface="Noto Sans KR"/>
              </a:rPr>
              <a:t>응급 분류도 기반 </a:t>
            </a:r>
            <a:endParaRPr lang="en-US" altLang="ko-KR" sz="4400" b="1" dirty="0" smtClean="0">
              <a:solidFill>
                <a:srgbClr val="FFFFFF"/>
              </a:solidFill>
              <a:latin typeface="Noto Sans KR"/>
            </a:endParaRPr>
          </a:p>
          <a:p>
            <a:pPr algn="l"/>
            <a:r>
              <a:rPr lang="ko-KR" altLang="en-US" sz="4400" b="1" dirty="0" smtClean="0">
                <a:solidFill>
                  <a:srgbClr val="FFFFFF"/>
                </a:solidFill>
                <a:latin typeface="Noto Sans KR"/>
              </a:rPr>
              <a:t>소아 환자 분류 서비스</a:t>
            </a:r>
            <a:r>
              <a:rPr dirty="0"/>
              <a:t>
</a:t>
            </a:r>
            <a:endParaRPr sz="3300" b="1" i="0" u="none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4405312"/>
            <a:ext cx="4581382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 dirty="0" err="1" smtClean="0">
                <a:solidFill>
                  <a:srgbClr val="FFFFFF"/>
                </a:solidFill>
                <a:latin typeface="Noto Sans KR"/>
              </a:rPr>
              <a:t>정영식</a:t>
            </a:r>
            <a:r>
              <a:rPr sz="1425" b="0" i="0" u="none" dirty="0" smtClean="0">
                <a:solidFill>
                  <a:srgbClr val="FFFFFF"/>
                </a:solidFill>
                <a:latin typeface="Noto Sans KR"/>
              </a:rPr>
              <a:t> </a:t>
            </a:r>
            <a:r>
              <a:rPr sz="1425" b="0" i="0" u="none" dirty="0" err="1">
                <a:solidFill>
                  <a:srgbClr val="FFFFFF"/>
                </a:solidFill>
                <a:latin typeface="Noto Sans KR"/>
              </a:rPr>
              <a:t>팀장</a:t>
            </a:r>
            <a:r>
              <a:rPr sz="1425" b="0" i="0" u="none" dirty="0">
                <a:solidFill>
                  <a:srgbClr val="FFFFFF"/>
                </a:solidFill>
                <a:latin typeface="Noto Sans KR"/>
              </a:rPr>
              <a:t> · </a:t>
            </a:r>
            <a:r>
              <a:rPr sz="1425" b="0" i="0" u="none" dirty="0" err="1">
                <a:solidFill>
                  <a:srgbClr val="FFFFFF"/>
                </a:solidFill>
                <a:latin typeface="Noto Sans KR"/>
              </a:rPr>
              <a:t>김동준</a:t>
            </a:r>
            <a:r>
              <a:rPr sz="1425" b="0" i="0" u="none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1425" b="0" i="0" u="none" dirty="0" err="1">
                <a:solidFill>
                  <a:srgbClr val="FFFFFF"/>
                </a:solidFill>
                <a:latin typeface="Noto Sans KR"/>
              </a:rPr>
              <a:t>팀원</a:t>
            </a:r>
            <a:r>
              <a:rPr sz="1425" b="0" i="0" u="none" dirty="0">
                <a:solidFill>
                  <a:srgbClr val="FFFFFF"/>
                </a:solidFill>
                <a:latin typeface="Noto Sans KR"/>
              </a:rPr>
              <a:t> | AI-Native Healthcare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1750"/>
            <a:ext cx="2600325" cy="2143125"/>
          </a:xfrm>
          <a:prstGeom prst="roundRect">
            <a:avLst>
              <a:gd name="adj" fmla="val 7111"/>
            </a:avLst>
          </a:prstGeom>
          <a:solidFill>
            <a:srgbClr val="F4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571750"/>
            <a:ext cx="2600325" cy="2143125"/>
          </a:xfrm>
          <a:prstGeom prst="roundRect">
            <a:avLst>
              <a:gd name="adj" fmla="val 7111"/>
            </a:avLst>
          </a:prstGeom>
          <a:solidFill>
            <a:srgbClr val="F4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71750"/>
            <a:ext cx="2600325" cy="2143125"/>
          </a:xfrm>
          <a:prstGeom prst="roundRect">
            <a:avLst>
              <a:gd name="adj" fmla="val 7111"/>
            </a:avLst>
          </a:prstGeom>
          <a:solidFill>
            <a:srgbClr val="F4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571750"/>
            <a:ext cx="2600325" cy="2143125"/>
          </a:xfrm>
          <a:prstGeom prst="roundRect">
            <a:avLst>
              <a:gd name="adj" fmla="val 7111"/>
            </a:avLst>
          </a:prstGeom>
          <a:solidFill>
            <a:srgbClr val="F4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8200" y="3790950"/>
            <a:ext cx="342900" cy="28575"/>
          </a:xfrm>
          <a:prstGeom prst="rect">
            <a:avLst/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29025" y="3790950"/>
            <a:ext cx="342900" cy="28575"/>
          </a:xfrm>
          <a:prstGeom prst="rect">
            <a:avLst/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19850" y="3790950"/>
            <a:ext cx="342900" cy="28575"/>
          </a:xfrm>
          <a:prstGeom prst="rect">
            <a:avLst/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10675" y="3790950"/>
            <a:ext cx="342900" cy="28575"/>
          </a:xfrm>
          <a:prstGeom prst="rect">
            <a:avLst/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6134100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Noto Sans KR"/>
              </a:rPr>
              <a:t>아이숨 핵심 프로젝트 발표 목차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222222"/>
                </a:solidFill>
                <a:latin typeface="Noto Sans KR"/>
              </a:rPr>
              <a:t>발표 목차 안내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876550"/>
            <a:ext cx="762446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01.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390900"/>
            <a:ext cx="124140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22222"/>
                </a:solidFill>
                <a:latin typeface="Noto Sans KR"/>
              </a:rPr>
              <a:t>개발 목적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952875"/>
            <a:ext cx="2238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55555"/>
                </a:solidFill>
                <a:latin typeface="Noto Sans KR"/>
              </a:rPr>
              <a:t>소아 의료 3대 구조적 모순 해소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2876550"/>
            <a:ext cx="762446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02.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3390900"/>
            <a:ext cx="20018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22222"/>
                </a:solidFill>
                <a:latin typeface="Noto Sans KR"/>
              </a:rPr>
              <a:t>서비스 프로세스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952875"/>
            <a:ext cx="2238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55555"/>
                </a:solidFill>
                <a:latin typeface="Noto Sans KR"/>
              </a:rPr>
              <a:t>0ms 가드레일 2-트랙 라우팅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2876550"/>
            <a:ext cx="762446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03.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390900"/>
            <a:ext cx="20018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22222"/>
                </a:solidFill>
                <a:latin typeface="Noto Sans KR"/>
              </a:rPr>
              <a:t>데이터분석 통계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3952875"/>
            <a:ext cx="2238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55555"/>
                </a:solidFill>
                <a:latin typeface="Noto Sans KR"/>
              </a:rPr>
              <a:t>9.4만 건 공공데이터 실증 성과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2876550"/>
            <a:ext cx="762446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04.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3390900"/>
            <a:ext cx="146143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22222"/>
                </a:solidFill>
                <a:latin typeface="Noto Sans KR"/>
              </a:rPr>
              <a:t>고도화 방안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0675" y="3952875"/>
            <a:ext cx="2238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55555"/>
                </a:solidFill>
                <a:latin typeface="Noto Sans KR"/>
              </a:rPr>
              <a:t>전후 비교 분석 4단계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919537"/>
            <a:ext cx="2286000" cy="19050"/>
          </a:xfrm>
          <a:prstGeom prst="rect">
            <a:avLst/>
          </a:prstGeom>
          <a:solidFill>
            <a:srgbClr val="D9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19550" y="1657350"/>
            <a:ext cx="7562850" cy="1066800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019550" y="2895600"/>
            <a:ext cx="7562850" cy="1066800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019550" y="4133850"/>
            <a:ext cx="7562850" cy="1066800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1885950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3124200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4362450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609" y="2066925"/>
            <a:ext cx="192732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4609" y="3305175"/>
            <a:ext cx="192732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4609" y="4543425"/>
            <a:ext cx="192732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2290762"/>
            <a:ext cx="369093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Noto Sans KR"/>
              </a:rPr>
              <a:t>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795587"/>
            <a:ext cx="3200400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개발 목적</a:t>
            </a:r>
            <a:r>
              <a:rPr sz="2700" b="1" i="0" u="none">
                <a:solidFill>
                  <a:srgbClr val="222222"/>
                </a:solidFill>
                <a:latin typeface="Noto Sans KR"/>
              </a:rPr>
              <a:t> 및</a:t>
            </a:r>
            <a:r>
              <a:t>
</a:t>
            </a:r>
            <a:r>
              <a:rPr sz="2700" b="1" i="0" u="none">
                <a:solidFill>
                  <a:srgbClr val="222222"/>
                </a:solidFill>
                <a:latin typeface="Noto Sans KR"/>
              </a:rPr>
              <a:t> 추진 배경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110037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66666"/>
                </a:solidFill>
                <a:latin typeface="Noto Sans KR"/>
              </a:rPr>
              <a:t>야간 소아 응급의료 현장의 3대 구조적 모순과 골든타임 사수 기획 배경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4450" y="1914525"/>
            <a:ext cx="3395160" cy="2423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 dirty="0" err="1">
                <a:solidFill>
                  <a:srgbClr val="0F172A"/>
                </a:solidFill>
                <a:latin typeface="Noto Sans KR"/>
              </a:rPr>
              <a:t>야간</a:t>
            </a:r>
            <a:r>
              <a:rPr sz="1575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75" b="1" i="0" u="none" dirty="0" err="1" smtClean="0">
                <a:solidFill>
                  <a:srgbClr val="0F172A"/>
                </a:solidFill>
                <a:latin typeface="Noto Sans KR"/>
              </a:rPr>
              <a:t>소아응</a:t>
            </a:r>
            <a:r>
              <a:rPr lang="ko-KR" altLang="en-US" sz="1575" b="1" i="0" u="none" dirty="0" err="1" smtClean="0">
                <a:solidFill>
                  <a:srgbClr val="0F172A"/>
                </a:solidFill>
                <a:latin typeface="Noto Sans KR"/>
              </a:rPr>
              <a:t>급실</a:t>
            </a:r>
            <a:r>
              <a:rPr lang="ko-KR" altLang="en-US" sz="1575" b="1" i="0" u="none" dirty="0" smtClean="0">
                <a:solidFill>
                  <a:srgbClr val="0F172A"/>
                </a:solidFill>
                <a:latin typeface="Noto Sans KR"/>
              </a:rPr>
              <a:t> 뺑뺑이</a:t>
            </a:r>
            <a:r>
              <a:rPr sz="1575" b="1" i="0" u="none" dirty="0" smtClean="0">
                <a:solidFill>
                  <a:srgbClr val="0F172A"/>
                </a:solidFill>
                <a:latin typeface="Noto Sans KR"/>
              </a:rPr>
              <a:t> </a:t>
            </a:r>
            <a:r>
              <a:rPr sz="1575" b="1" i="0" u="none" dirty="0">
                <a:solidFill>
                  <a:srgbClr val="0F172A"/>
                </a:solidFill>
                <a:latin typeface="Noto Sans KR"/>
              </a:rPr>
              <a:t>(</a:t>
            </a:r>
            <a:r>
              <a:rPr sz="1575" b="1" i="0" u="none" dirty="0" err="1">
                <a:solidFill>
                  <a:srgbClr val="0F172A"/>
                </a:solidFill>
                <a:latin typeface="Noto Sans KR"/>
              </a:rPr>
              <a:t>골든타임</a:t>
            </a:r>
            <a:r>
              <a:rPr sz="1575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75" b="1" i="0" u="none" dirty="0" err="1">
                <a:solidFill>
                  <a:srgbClr val="0F172A"/>
                </a:solidFill>
                <a:latin typeface="Noto Sans KR"/>
              </a:rPr>
              <a:t>실종</a:t>
            </a:r>
            <a:r>
              <a:rPr sz="1575" b="1" i="0" u="none" dirty="0">
                <a:solidFill>
                  <a:srgbClr val="0F172A"/>
                </a:solidFill>
                <a:latin typeface="Noto Sans KR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4450" y="2238375"/>
            <a:ext cx="542456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smtClean="0">
                <a:solidFill>
                  <a:srgbClr val="444444"/>
                </a:solidFill>
                <a:latin typeface="Noto Sans KR"/>
              </a:rPr>
              <a:t>소</a:t>
            </a:r>
            <a:r>
              <a:rPr lang="ko-KR" altLang="en-US" sz="1350" b="0" i="0" u="none" dirty="0" smtClean="0">
                <a:solidFill>
                  <a:srgbClr val="444444"/>
                </a:solidFill>
                <a:latin typeface="Noto Sans KR"/>
              </a:rPr>
              <a:t>아</a:t>
            </a:r>
            <a:r>
              <a:rPr sz="1350" b="0" i="0" u="none" dirty="0" smtClean="0">
                <a:solidFill>
                  <a:srgbClr val="444444"/>
                </a:solidFill>
                <a:latin typeface="Noto Sans KR"/>
              </a:rPr>
              <a:t>청</a:t>
            </a:r>
            <a:r>
              <a:rPr lang="ko-KR" altLang="en-US" sz="1350" b="0" i="0" u="none" dirty="0" smtClean="0">
                <a:solidFill>
                  <a:srgbClr val="444444"/>
                </a:solidFill>
                <a:latin typeface="Noto Sans KR"/>
              </a:rPr>
              <a:t>소년</a:t>
            </a:r>
            <a:r>
              <a:rPr sz="1350" b="0" i="0" u="none" dirty="0" smtClean="0">
                <a:solidFill>
                  <a:srgbClr val="444444"/>
                </a:solidFill>
                <a:latin typeface="Noto Sans KR"/>
              </a:rPr>
              <a:t>과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당직의</a:t>
            </a:r>
            <a:r>
              <a:rPr sz="1350" b="0" i="0" u="none" dirty="0">
                <a:solidFill>
                  <a:srgbClr val="444444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부재로</a:t>
            </a:r>
            <a:r>
              <a:rPr sz="1350" b="0" i="0" u="none" dirty="0">
                <a:solidFill>
                  <a:srgbClr val="444444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인한</a:t>
            </a:r>
            <a:r>
              <a:rPr sz="1350" b="0" i="0" u="none" dirty="0">
                <a:solidFill>
                  <a:srgbClr val="444444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진료</a:t>
            </a:r>
            <a:r>
              <a:rPr sz="1350" b="0" i="0" u="none" dirty="0">
                <a:solidFill>
                  <a:srgbClr val="444444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제한</a:t>
            </a:r>
            <a:r>
              <a:rPr sz="1350" b="0" i="0" u="none" dirty="0">
                <a:solidFill>
                  <a:srgbClr val="444444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공지</a:t>
            </a:r>
            <a:r>
              <a:rPr sz="1350" b="0" i="0" u="none" dirty="0">
                <a:solidFill>
                  <a:srgbClr val="444444"/>
                </a:solidFill>
                <a:latin typeface="Noto Sans KR"/>
              </a:rPr>
              <a:t> 및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야간</a:t>
            </a:r>
            <a:r>
              <a:rPr sz="1350" b="0" i="0" u="none" dirty="0">
                <a:solidFill>
                  <a:srgbClr val="444444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중증</a:t>
            </a:r>
            <a:r>
              <a:rPr sz="1350" b="0" i="0" u="none" dirty="0">
                <a:solidFill>
                  <a:srgbClr val="444444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환아</a:t>
            </a:r>
            <a:r>
              <a:rPr sz="1350" b="0" i="0" u="none" dirty="0">
                <a:solidFill>
                  <a:srgbClr val="444444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표류</a:t>
            </a:r>
            <a:r>
              <a:rPr sz="1350" b="0" i="0" u="none" dirty="0">
                <a:solidFill>
                  <a:srgbClr val="444444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444444"/>
                </a:solidFill>
                <a:latin typeface="Noto Sans KR"/>
              </a:rPr>
              <a:t>발생</a:t>
            </a:r>
            <a:endParaRPr sz="1350" b="0" i="0" u="none" dirty="0">
              <a:solidFill>
                <a:srgbClr val="444444"/>
              </a:solidFill>
              <a:latin typeface="Noto Sans K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24450" y="3152775"/>
            <a:ext cx="6920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Noto Sans KR"/>
              </a:rPr>
              <a:t>대형 응급실 경증 환자 과밀화 (74%)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4450" y="3476625"/>
            <a:ext cx="659066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44444"/>
                </a:solidFill>
                <a:latin typeface="Noto Sans KR"/>
              </a:rPr>
              <a:t>야간 경증 환아 응급실 쏠림으로 대기 3~5시간 폭증 및 중증 진료 지연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4450" y="4391025"/>
            <a:ext cx="70675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Noto Sans KR"/>
              </a:rPr>
              <a:t>심야 처방약 조제 불가 사고 (조제 단절)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4450" y="4714875"/>
            <a:ext cx="67515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44444"/>
                </a:solidFill>
                <a:latin typeface="Noto Sans KR"/>
              </a:rPr>
              <a:t>달빛어린이병원 반경 1km 약국 42.6% 조기 마감에 따른 조제 단절 해소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919537"/>
            <a:ext cx="2286000" cy="19050"/>
          </a:xfrm>
          <a:prstGeom prst="rect">
            <a:avLst/>
          </a:prstGeom>
          <a:solidFill>
            <a:srgbClr val="D9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100" y="1533525"/>
            <a:ext cx="1104900" cy="1104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51" y="1533525"/>
            <a:ext cx="1104900" cy="1104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4201" y="1533525"/>
            <a:ext cx="1104900" cy="1104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5950" y="3581400"/>
            <a:ext cx="1104900" cy="1104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9650" y="3581400"/>
            <a:ext cx="1104900" cy="1104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435" y="1876425"/>
            <a:ext cx="326082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1985" y="1876425"/>
            <a:ext cx="326082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3535" y="1876425"/>
            <a:ext cx="326082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5284" y="3924300"/>
            <a:ext cx="326082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8984" y="3924300"/>
            <a:ext cx="326082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2290762"/>
            <a:ext cx="3571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Noto Sans KR"/>
              </a:rPr>
              <a:t>02.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795587"/>
            <a:ext cx="3100387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22222"/>
                </a:solidFill>
                <a:latin typeface="Noto Sans KR"/>
              </a:rPr>
              <a:t>서비스에</a:t>
            </a:r>
            <a:r>
              <a:t>
</a:t>
            </a:r>
            <a:r>
              <a:rPr sz="2700" b="1" i="0" u="none">
                <a:solidFill>
                  <a:srgbClr val="222222"/>
                </a:solidFill>
                <a:latin typeface="Noto Sans KR"/>
              </a:rPr>
              <a:t> 필요한 </a:t>
            </a:r>
            <a:r>
              <a:rPr sz="2700" b="1" i="0" u="none">
                <a:solidFill>
                  <a:srgbClr val="0F172A"/>
                </a:solidFill>
                <a:latin typeface="Noto Sans KR"/>
              </a:rPr>
              <a:t>핵심 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110037"/>
            <a:ext cx="2952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66666"/>
                </a:solidFill>
                <a:latin typeface="Noto Sans KR"/>
              </a:rPr>
              <a:t>소아 야간 응급의료 안전망 구축을 위한 5대 핵심 엔지니어링 기술 기둥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7635" y="2771775"/>
            <a:ext cx="277183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222222"/>
                </a:solidFill>
                <a:latin typeface="Noto Sans KR"/>
              </a:rPr>
              <a:t>☑ 0ms 2계층 안전 감시망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8485" y="3076575"/>
            <a:ext cx="22902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55555"/>
                </a:solidFill>
                <a:latin typeface="Noto Sans KR"/>
              </a:rPr>
              <a:t>26µs 정규식 인터셉터 탑재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1134" y="2771775"/>
            <a:ext cx="308808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222222"/>
                </a:solidFill>
                <a:latin typeface="Noto Sans KR"/>
              </a:rPr>
              <a:t>☑ 2-트랙 지능형 임상 라우팅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247" y="3076575"/>
            <a:ext cx="249770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55555"/>
                </a:solidFill>
                <a:latin typeface="Noto Sans KR"/>
              </a:rPr>
              <a:t>응급실 병상 vs 달빛병원 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4304" y="2771775"/>
            <a:ext cx="280484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222222"/>
                </a:solidFill>
                <a:latin typeface="Noto Sans KR"/>
              </a:rPr>
              <a:t>☑ +30분 마진 약국 페어링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7674" y="3076575"/>
            <a:ext cx="213810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55555"/>
                </a:solidFill>
                <a:latin typeface="Noto Sans KR"/>
              </a:rPr>
              <a:t>안심약국 1:1 실시간 매칭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667" y="4819650"/>
            <a:ext cx="296931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222222"/>
                </a:solidFill>
                <a:latin typeface="Noto Sans KR"/>
              </a:rPr>
              <a:t>☑ In-Memory Hash Diffing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1067" y="5086350"/>
            <a:ext cx="29745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55555"/>
                </a:solidFill>
                <a:latin typeface="Noto Sans KR"/>
              </a:rPr>
              <a:t>클라우드 DB 쓰기 비용 93.9% 절감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0778" y="4819650"/>
            <a:ext cx="30226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222222"/>
                </a:solidFill>
                <a:latin typeface="Noto Sans KR"/>
              </a:rPr>
              <a:t>☑ 119 구급대원 브리핑 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0788" y="5124450"/>
            <a:ext cx="276262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555555"/>
                </a:solidFill>
                <a:latin typeface="Noto Sans KR"/>
              </a:rPr>
              <a:t>본인확인 서류 및 30초 통화 대본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805237"/>
            <a:ext cx="2286000" cy="19050"/>
          </a:xfrm>
          <a:prstGeom prst="rect">
            <a:avLst/>
          </a:prstGeom>
          <a:solidFill>
            <a:srgbClr val="D9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33900" y="1676400"/>
            <a:ext cx="7048500" cy="533400"/>
          </a:xfrm>
          <a:prstGeom prst="rect">
            <a:avLst/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33900" y="2667000"/>
            <a:ext cx="7048500" cy="533400"/>
          </a:xfrm>
          <a:prstGeom prst="rect">
            <a:avLst/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33900" y="3657600"/>
            <a:ext cx="7048500" cy="533400"/>
          </a:xfrm>
          <a:prstGeom prst="rect">
            <a:avLst/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33900" y="4648200"/>
            <a:ext cx="7048500" cy="533400"/>
          </a:xfrm>
          <a:prstGeom prst="rect">
            <a:avLst/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3" y="2343150"/>
            <a:ext cx="148232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3" y="3333750"/>
            <a:ext cx="148232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3" y="4324350"/>
            <a:ext cx="148232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619250"/>
            <a:ext cx="647700" cy="647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609850"/>
            <a:ext cx="647700" cy="647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600450"/>
            <a:ext cx="647700" cy="647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4591050"/>
            <a:ext cx="647700" cy="647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609" y="1819275"/>
            <a:ext cx="192732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3609" y="2809875"/>
            <a:ext cx="192732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3609" y="3800475"/>
            <a:ext cx="192732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3609" y="4791075"/>
            <a:ext cx="192732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2176462"/>
            <a:ext cx="3571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Noto Sans KR"/>
              </a:rPr>
              <a:t>03.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2681287"/>
            <a:ext cx="3100387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서비스 절차</a:t>
            </a:r>
            <a:r>
              <a:rPr sz="2700" b="1" i="0" u="none">
                <a:solidFill>
                  <a:srgbClr val="222222"/>
                </a:solidFill>
                <a:latin typeface="Noto Sans KR"/>
              </a:rPr>
              <a:t>는</a:t>
            </a:r>
            <a:r>
              <a:t>
</a:t>
            </a:r>
            <a:r>
              <a:rPr sz="2700" b="1" i="0" u="none">
                <a:solidFill>
                  <a:srgbClr val="222222"/>
                </a:solidFill>
                <a:latin typeface="Noto Sans KR"/>
              </a:rPr>
              <a:t> 이렇게 진행돼요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995737"/>
            <a:ext cx="2952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66666"/>
                </a:solidFill>
                <a:latin typeface="Noto Sans KR"/>
              </a:rPr>
              <a:t>원스톱 문진 입력부터 실시간 병상 매칭 및 구급대원 인계까지 4단계 파이프라인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1828800"/>
            <a:ext cx="545501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1단계 :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스마트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원스톱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문진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(5대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연령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분류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· </a:t>
            </a:r>
            <a:r>
              <a:rPr lang="ko-KR" altLang="en-US" sz="1350" b="1" i="0" u="none" dirty="0" smtClean="0">
                <a:solidFill>
                  <a:srgbClr val="F8FAFC"/>
                </a:solidFill>
                <a:latin typeface="Noto Sans KR"/>
              </a:rPr>
              <a:t>다이얼 </a:t>
            </a:r>
            <a:r>
              <a:rPr sz="1350" b="1" i="0" u="none" dirty="0" err="1" smtClean="0">
                <a:solidFill>
                  <a:srgbClr val="F8FAFC"/>
                </a:solidFill>
                <a:latin typeface="Noto Sans KR"/>
              </a:rPr>
              <a:t>체온계</a:t>
            </a:r>
            <a:r>
              <a:rPr sz="1350" b="1" i="0" u="none" dirty="0" smtClean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· STT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음성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입력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0" y="2819400"/>
            <a:ext cx="7429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Noto Sans KR"/>
              </a:rPr>
              <a:t>2단계 : 0ms 안전 가드레일 &amp; Gemini 3.8 Flash 소아 KTAS 168개 지침 트리아제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2500" y="3810000"/>
            <a:ext cx="7429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3단계 : 2-트랙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맞춤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가이드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(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중증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: 소아응급실+119 /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경증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: 달빛병원+30분안심약국)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0" y="4800600"/>
            <a:ext cx="7429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4단계 : 119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구급대원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응급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브리핑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카드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인계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및 24시간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실시간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병상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변동</a:t>
            </a:r>
            <a:r>
              <a:rPr sz="13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F8FAFC"/>
                </a:solidFill>
                <a:latin typeface="Noto Sans KR"/>
              </a:rPr>
              <a:t>알림</a:t>
            </a:r>
            <a:endParaRPr sz="1350" b="1" i="0" u="none" dirty="0">
              <a:solidFill>
                <a:srgbClr val="F8FAFC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00" y="1876425"/>
            <a:ext cx="723900" cy="723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050" y="1876425"/>
            <a:ext cx="723900" cy="723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199" y="1990725"/>
            <a:ext cx="723900" cy="723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3675" y="2095500"/>
            <a:ext cx="222349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700" y="2714625"/>
            <a:ext cx="723900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0100" y="2714625"/>
            <a:ext cx="723900" cy="723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4825" y="2095500"/>
            <a:ext cx="222349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6850" y="2714625"/>
            <a:ext cx="723900" cy="723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2714625"/>
            <a:ext cx="723900" cy="723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05975" y="2209800"/>
            <a:ext cx="222349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7999" y="2828925"/>
            <a:ext cx="723900" cy="723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12399" y="2828925"/>
            <a:ext cx="723900" cy="723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13917" y="2943225"/>
            <a:ext cx="207466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28317" y="2943225"/>
            <a:ext cx="207466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35066" y="2943225"/>
            <a:ext cx="207466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9466" y="2943225"/>
            <a:ext cx="207466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56216" y="3057525"/>
            <a:ext cx="207466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70616" y="3057525"/>
            <a:ext cx="207466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533400"/>
            <a:ext cx="115062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04.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971550"/>
            <a:ext cx="115062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핵심 기능 3대 분류 체계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948" y="3762375"/>
            <a:ext cx="443395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75" b="1" i="0" u="none">
                <a:solidFill>
                  <a:srgbClr val="0F172A"/>
                </a:solidFill>
                <a:latin typeface="Noto Sans KR"/>
              </a:rPr>
              <a:t>01. [Track A] 초응급 대응 (KTAS 1~3)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9098" y="3762375"/>
            <a:ext cx="443395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75" b="1" i="0" u="none">
                <a:solidFill>
                  <a:srgbClr val="0F172A"/>
                </a:solidFill>
                <a:latin typeface="Noto Sans KR"/>
              </a:rPr>
              <a:t>02. [Track B] 경증 환자분류 (KTAS 4~5)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7872" y="3743325"/>
            <a:ext cx="443395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75" b="1" i="0" u="none" dirty="0">
                <a:solidFill>
                  <a:srgbClr val="0F172A"/>
                </a:solidFill>
                <a:latin typeface="Noto Sans KR"/>
              </a:rPr>
              <a:t>03. [Core Engine] </a:t>
            </a:r>
            <a:r>
              <a:rPr sz="1575" b="1" i="0" u="none" dirty="0" err="1">
                <a:solidFill>
                  <a:srgbClr val="0F172A"/>
                </a:solidFill>
                <a:latin typeface="Noto Sans KR"/>
              </a:rPr>
              <a:t>고가용성</a:t>
            </a:r>
            <a:r>
              <a:rPr sz="1575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1575" b="1" i="0" u="none" dirty="0" err="1">
                <a:solidFill>
                  <a:srgbClr val="0F172A"/>
                </a:solidFill>
                <a:latin typeface="Noto Sans KR"/>
              </a:rPr>
              <a:t>인프라</a:t>
            </a:r>
            <a:endParaRPr sz="1575" b="1" i="0" u="none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1950" y="4486275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Noto Sans KR"/>
              </a:rPr>
              <a:t>실시간 병상: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E-Gen 소아 가용병상 LBS 랭킹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50" y="5076825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Noto Sans KR"/>
              </a:rPr>
              <a:t>초동 대처: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119 직행 및 맞춤 응급처치 가이드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50" y="5667375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Noto Sans KR"/>
              </a:rPr>
              <a:t>현장 인계: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구급대원용 응급 브리핑 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1900" y="4467225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Noto Sans KR"/>
              </a:rPr>
              <a:t>안심 페어링: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156개 달빛병원 + 30분 마진 약국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1900" y="5057775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Noto Sans KR"/>
              </a:rPr>
              <a:t>사전 확인: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당직의 30초 유선 확인 통화 대본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1900" y="5648325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Noto Sans KR"/>
              </a:rPr>
              <a:t>방문 준비: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본인확인 의무화 서류 체크리스트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2673" y="4463354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• </a:t>
            </a:r>
            <a:r>
              <a:rPr sz="1350" b="1" i="0" u="none" dirty="0" err="1">
                <a:solidFill>
                  <a:srgbClr val="334155"/>
                </a:solidFill>
                <a:latin typeface="Noto Sans KR"/>
              </a:rPr>
              <a:t>안전</a:t>
            </a:r>
            <a:r>
              <a:rPr sz="1350" b="1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Noto Sans KR"/>
              </a:rPr>
              <a:t>감시망</a:t>
            </a:r>
            <a:r>
              <a:rPr sz="1350" b="1" i="0" u="none" dirty="0">
                <a:solidFill>
                  <a:srgbClr val="334155"/>
                </a:solidFill>
                <a:latin typeface="Noto Sans KR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26µs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정규식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+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복합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부정문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감별</a:t>
            </a:r>
            <a:endParaRPr sz="1350" b="0" i="0" u="none" dirty="0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92673" y="5053904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Noto Sans KR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Noto Sans KR"/>
              </a:rPr>
              <a:t>법규 준수:</a:t>
            </a:r>
            <a:r>
              <a:rPr sz="1350" b="0" i="0" u="none">
                <a:solidFill>
                  <a:srgbClr val="334155"/>
                </a:solidFill>
                <a:latin typeface="Noto Sans KR"/>
              </a:rPr>
              <a:t> 의료법 제27조 사후 소독 게이트웨이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2673" y="5644454"/>
            <a:ext cx="30162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• </a:t>
            </a:r>
            <a:r>
              <a:rPr sz="1350" b="1" i="0" u="none" dirty="0" err="1">
                <a:solidFill>
                  <a:srgbClr val="334155"/>
                </a:solidFill>
                <a:latin typeface="Noto Sans KR"/>
              </a:rPr>
              <a:t>무중단</a:t>
            </a:r>
            <a:r>
              <a:rPr sz="1350" b="1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Noto Sans KR"/>
              </a:rPr>
              <a:t>폴백</a:t>
            </a:r>
            <a:r>
              <a:rPr sz="1350" b="1" i="0" u="none" dirty="0">
                <a:solidFill>
                  <a:srgbClr val="334155"/>
                </a:solidFill>
                <a:latin typeface="Noto Sans KR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3-State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서킷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브레이커</a:t>
            </a:r>
            <a:r>
              <a:rPr sz="1350" b="0" i="0" u="none" dirty="0">
                <a:solidFill>
                  <a:srgbClr val="334155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Noto Sans KR"/>
              </a:rPr>
              <a:t>아키텍처</a:t>
            </a:r>
            <a:endParaRPr sz="1350" b="0" i="0" u="none" dirty="0">
              <a:solidFill>
                <a:srgbClr val="334155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09053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90675"/>
            <a:ext cx="3530649" cy="1009650"/>
          </a:xfrm>
          <a:prstGeom prst="roundRect">
            <a:avLst>
              <a:gd name="adj" fmla="val 13207"/>
            </a:avLst>
          </a:prstGeom>
          <a:solidFill>
            <a:srgbClr val="F4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1590675"/>
            <a:ext cx="3530649" cy="1009650"/>
          </a:xfrm>
          <a:prstGeom prst="roundRect">
            <a:avLst>
              <a:gd name="adj" fmla="val 13207"/>
            </a:avLst>
          </a:prstGeom>
          <a:solidFill>
            <a:srgbClr val="F4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1590675"/>
            <a:ext cx="3530649" cy="1009650"/>
          </a:xfrm>
          <a:prstGeom prst="roundRect">
            <a:avLst>
              <a:gd name="adj" fmla="val 13207"/>
            </a:avLst>
          </a:prstGeom>
          <a:solidFill>
            <a:srgbClr val="F4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399" y="184785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549" y="184785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7698" y="1847850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4050" y="1981200"/>
            <a:ext cx="177849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981200"/>
            <a:ext cx="177849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6349" y="1981200"/>
            <a:ext cx="177849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35416" y="1000125"/>
            <a:ext cx="385658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777777"/>
                </a:solidFill>
                <a:latin typeface="Noto Sans KR"/>
              </a:rPr>
              <a:t>전국 94,000건 공공의료 마스터 데이터셋 실측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9100"/>
            <a:ext cx="488956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Noto Sans KR"/>
              </a:rPr>
              <a:t>05.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62000"/>
            <a:ext cx="513404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22222"/>
                </a:solidFill>
                <a:latin typeface="Noto Sans KR"/>
              </a:rPr>
              <a:t>데이터분석 </a:t>
            </a:r>
            <a:r>
              <a:rPr sz="2400" b="1" i="0" u="none">
                <a:solidFill>
                  <a:srgbClr val="0F172A"/>
                </a:solidFill>
                <a:latin typeface="Noto Sans KR"/>
              </a:rPr>
              <a:t>핵심 통계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1776412"/>
            <a:ext cx="230720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55555"/>
                </a:solidFill>
                <a:latin typeface="Noto Sans KR"/>
              </a:rPr>
              <a:t>응급실 소아 단순 경증 비율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2014537"/>
            <a:ext cx="2307208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74.0%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0299" y="1743075"/>
            <a:ext cx="21485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55555"/>
                </a:solidFill>
                <a:latin typeface="Noto Sans KR"/>
              </a:rPr>
              <a:t>공공의료 정제 마스터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0299" y="1981200"/>
            <a:ext cx="214852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94,000건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449" y="1776412"/>
            <a:ext cx="218014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55555"/>
                </a:solidFill>
                <a:latin typeface="Noto Sans KR"/>
              </a:rPr>
              <a:t>Hash Diffing 비용 절감률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1449" y="2014537"/>
            <a:ext cx="2180145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-93.9%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228975"/>
            <a:ext cx="1714500" cy="19050"/>
          </a:xfrm>
          <a:prstGeom prst="rect">
            <a:avLst/>
          </a:prstGeom>
          <a:solidFill>
            <a:srgbClr val="D9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086225"/>
            <a:ext cx="2381250" cy="1133475"/>
          </a:xfrm>
          <a:prstGeom prst="roundRect">
            <a:avLst>
              <a:gd name="adj" fmla="val 11764"/>
            </a:avLst>
          </a:prstGeom>
          <a:solidFill>
            <a:srgbClr val="F4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50778" y="5105400"/>
            <a:ext cx="7214443" cy="371475"/>
          </a:xfrm>
          <a:prstGeom prst="roundRect">
            <a:avLst>
              <a:gd name="adj" fmla="val 50000"/>
            </a:avLst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33739" y="1381125"/>
            <a:ext cx="9525" cy="485775"/>
          </a:xfrm>
          <a:prstGeom prst="rect">
            <a:avLst/>
          </a:prstGeom>
          <a:solidFill>
            <a:srgbClr val="6BC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03158" y="1381125"/>
            <a:ext cx="9525" cy="485775"/>
          </a:xfrm>
          <a:prstGeom prst="rect">
            <a:avLst/>
          </a:prstGeom>
          <a:solidFill>
            <a:srgbClr val="6BC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76614" y="2257425"/>
            <a:ext cx="2702718" cy="76200"/>
          </a:xfrm>
          <a:prstGeom prst="roundRect">
            <a:avLst>
              <a:gd name="adj" fmla="val 50000"/>
            </a:avLst>
          </a:prstGeom>
          <a:solidFill>
            <a:srgbClr val="E4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76614" y="2867025"/>
            <a:ext cx="2702718" cy="76200"/>
          </a:xfrm>
          <a:prstGeom prst="roundRect">
            <a:avLst>
              <a:gd name="adj" fmla="val 50000"/>
            </a:avLst>
          </a:prstGeom>
          <a:solidFill>
            <a:srgbClr val="E4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76614" y="3476625"/>
            <a:ext cx="2702718" cy="76200"/>
          </a:xfrm>
          <a:prstGeom prst="roundRect">
            <a:avLst>
              <a:gd name="adj" fmla="val 50000"/>
            </a:avLst>
          </a:prstGeom>
          <a:solidFill>
            <a:srgbClr val="E4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76614" y="4086225"/>
            <a:ext cx="2702718" cy="76200"/>
          </a:xfrm>
          <a:prstGeom prst="roundRect">
            <a:avLst>
              <a:gd name="adj" fmla="val 50000"/>
            </a:avLst>
          </a:prstGeom>
          <a:solidFill>
            <a:srgbClr val="E4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76614" y="4695825"/>
            <a:ext cx="2702718" cy="76200"/>
          </a:xfrm>
          <a:prstGeom prst="roundRect">
            <a:avLst>
              <a:gd name="adj" fmla="val 50000"/>
            </a:avLst>
          </a:prstGeom>
          <a:solidFill>
            <a:srgbClr val="E4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76614" y="2257425"/>
            <a:ext cx="2270224" cy="76200"/>
          </a:xfrm>
          <a:prstGeom prst="rect">
            <a:avLst/>
          </a:prstGeom>
          <a:solidFill>
            <a:srgbClr val="2B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76614" y="2867025"/>
            <a:ext cx="1151334" cy="76200"/>
          </a:xfrm>
          <a:prstGeom prst="rect">
            <a:avLst/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76614" y="3476625"/>
            <a:ext cx="2537817" cy="76200"/>
          </a:xfrm>
          <a:prstGeom prst="rect">
            <a:avLst/>
          </a:prstGeom>
          <a:solidFill>
            <a:srgbClr val="2B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76614" y="4086225"/>
            <a:ext cx="2702718" cy="76200"/>
          </a:xfrm>
          <a:prstGeom prst="rect">
            <a:avLst/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76614" y="4695825"/>
            <a:ext cx="2702718" cy="76200"/>
          </a:xfrm>
          <a:prstGeom prst="rect">
            <a:avLst/>
          </a:prstGeom>
          <a:solidFill>
            <a:srgbClr val="2B8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478" y="5214937"/>
            <a:ext cx="118616" cy="15240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333750" y="1381125"/>
          <a:ext cx="8248648" cy="3552825"/>
        </p:xfrm>
        <a:graphic>
          <a:graphicData uri="http://schemas.openxmlformats.org/drawingml/2006/table">
            <a:tbl>
              <a:tblPr/>
              <a:tblGrid>
                <a:gridCol w="2309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9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9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137">
                <a:tc>
                  <a:txBody>
                    <a:bodyPr/>
                    <a:lstStyle/>
                    <a:p>
                      <a:pPr algn="ctr"/>
                      <a:r>
                        <a:rPr sz="1275" b="1" i="0" u="none">
                          <a:solidFill>
                            <a:srgbClr val="F8FAFC"/>
                          </a:solidFill>
                          <a:latin typeface="Noto Sans KR"/>
                        </a:rPr>
                        <a:t>분석 항목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5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 i="0" u="none">
                          <a:solidFill>
                            <a:srgbClr val="F8FAFC"/>
                          </a:solidFill>
                          <a:latin typeface="Noto Sans KR"/>
                        </a:rPr>
                        <a:t>측정 수치 및 시각 지표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5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 i="0" u="none">
                          <a:solidFill>
                            <a:srgbClr val="F8FAFC"/>
                          </a:solidFill>
                          <a:latin typeface="Noto Sans KR"/>
                        </a:rPr>
                        <a:t>비고 및 분석 요약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5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13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3333"/>
                          </a:solidFill>
                          <a:latin typeface="Noto Sans KR"/>
                        </a:rPr>
                        <a:t>[응급실 병목] 20~24시 내원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B8A87"/>
                          </a:solidFill>
                          <a:latin typeface="Noto Sans KR"/>
                        </a:rPr>
                        <a:t>4.2배 폭증 (피크 280명)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KR"/>
                        </a:rPr>
                        <a:t>야간 쏠림으로 평균 대기 3.5시간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13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3333"/>
                          </a:solidFill>
                          <a:latin typeface="Noto Sans KR"/>
                        </a:rPr>
                        <a:t>[조제 단절] 1km 약국 마감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KR"/>
                        </a:rPr>
                        <a:t>42.6% 조기 마감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KR"/>
                        </a:rPr>
                        <a:t>병원보다 일찍 닫아 조제 불가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13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3333"/>
                          </a:solidFill>
                          <a:latin typeface="Noto Sans KR"/>
                        </a:rPr>
                        <a:t>[FinOps] 일일 DB 쓰기 절감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B8A87"/>
                          </a:solidFill>
                          <a:latin typeface="Noto Sans KR"/>
                        </a:rPr>
                        <a:t>144,000회 ➔ 8,640회 (-93.9%)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KR"/>
                        </a:rPr>
                        <a:t>Hash Diffing 도입 비용 절감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3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3333"/>
                          </a:solidFill>
                          <a:latin typeface="Noto Sans KR"/>
                        </a:rPr>
                        <a:t>[임상 안전성] Red Flag 감지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Noto Sans KR"/>
                        </a:rPr>
                        <a:t>민감도 100% / 오분류 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KR"/>
                        </a:rPr>
                        <a:t>26µs 정규식 중증 누락 완전 차단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1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3333"/>
                          </a:solidFill>
                          <a:latin typeface="Noto Sans KR"/>
                        </a:rPr>
                        <a:t>[부정문 감별] 복합 문맥 분석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B8A87"/>
                          </a:solidFill>
                          <a:latin typeface="Noto Sans KR"/>
                        </a:rPr>
                        <a:t>부정문 오경보율 0.0% (정확도 100%)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555555"/>
                          </a:solidFill>
                          <a:latin typeface="Noto Sans KR"/>
                        </a:rPr>
                        <a:t>형태소 엔진으로 가짜 경보 차단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1638300"/>
            <a:ext cx="2976562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Noto Sans KR"/>
              </a:rPr>
              <a:t>06.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143125"/>
            <a:ext cx="2600325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22222"/>
                </a:solidFill>
                <a:latin typeface="Noto Sans KR"/>
              </a:rPr>
              <a:t>데이터분석</a:t>
            </a:r>
            <a:r>
              <a:t>
</a:t>
            </a:r>
            <a:r>
              <a:rPr sz="2700" b="1" i="0" u="none">
                <a:solidFill>
                  <a:srgbClr val="0F172A"/>
                </a:solidFill>
                <a:latin typeface="Noto Sans KR"/>
              </a:rPr>
              <a:t>세부 통계표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400425"/>
            <a:ext cx="2476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66666"/>
                </a:solidFill>
                <a:latin typeface="Noto Sans KR"/>
              </a:rPr>
              <a:t>소아 야간 의료 현장 문제 증명 및 시스템 성능 5대 지표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238625"/>
            <a:ext cx="2595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B8A87"/>
                </a:solidFill>
                <a:latin typeface="Noto Sans KR"/>
              </a:rPr>
              <a:t>실증 데이터 규모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476750"/>
            <a:ext cx="2595562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Noto Sans KR"/>
              </a:rPr>
              <a:t>94,000+ 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895850"/>
            <a:ext cx="2595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66666"/>
                </a:solidFill>
                <a:latin typeface="Noto Sans KR"/>
              </a:rPr>
              <a:t>병의원 7만 · 약국 2.4만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1344" y="5200650"/>
            <a:ext cx="786065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66666"/>
                </a:solidFill>
                <a:latin typeface="Noto Sans KR"/>
              </a:rPr>
              <a:t>출처: 국립중앙의료원(NMC) E-Gen API, HIRA 전국 병의원·약국 DB, 소아 KTAS 50대 골든케이스 실측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0" y="1871662"/>
            <a:ext cx="7924800" cy="3114675"/>
          </a:xfrm>
          <a:prstGeom prst="roundRect">
            <a:avLst>
              <a:gd name="adj" fmla="val 6116"/>
            </a:avLst>
          </a:prstGeom>
          <a:solidFill>
            <a:srgbClr val="FFFFFF"/>
          </a:solidFill>
          <a:ln w="28575">
            <a:solidFill>
              <a:srgbClr val="7F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795712"/>
            <a:ext cx="1905000" cy="19050"/>
          </a:xfrm>
          <a:prstGeom prst="rect">
            <a:avLst/>
          </a:prstGeom>
          <a:solidFill>
            <a:srgbClr val="B8E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241160" y="2128837"/>
            <a:ext cx="1045964" cy="314325"/>
          </a:xfrm>
          <a:prstGeom prst="roundRect">
            <a:avLst>
              <a:gd name="adj" fmla="val 24242"/>
            </a:avLst>
          </a:prstGeom>
          <a:solidFill>
            <a:srgbClr val="EE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41160" y="2700337"/>
            <a:ext cx="1045964" cy="314325"/>
          </a:xfrm>
          <a:prstGeom prst="roundRect">
            <a:avLst>
              <a:gd name="adj" fmla="val 24242"/>
            </a:avLst>
          </a:prstGeom>
          <a:solidFill>
            <a:srgbClr val="EE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190410" y="3271837"/>
            <a:ext cx="1096714" cy="314325"/>
          </a:xfrm>
          <a:prstGeom prst="roundRect">
            <a:avLst>
              <a:gd name="adj" fmla="val 24242"/>
            </a:avLst>
          </a:prstGeom>
          <a:solidFill>
            <a:srgbClr val="EE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66610" y="3843337"/>
            <a:ext cx="1020514" cy="314325"/>
          </a:xfrm>
          <a:prstGeom prst="roundRect">
            <a:avLst>
              <a:gd name="adj" fmla="val 24242"/>
            </a:avLst>
          </a:prstGeom>
          <a:solidFill>
            <a:srgbClr val="EE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78801" y="4414837"/>
            <a:ext cx="1108323" cy="314325"/>
          </a:xfrm>
          <a:prstGeom prst="roundRect">
            <a:avLst>
              <a:gd name="adj" fmla="val 24242"/>
            </a:avLst>
          </a:prstGeom>
          <a:solidFill>
            <a:srgbClr val="EE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52875" y="21431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52875" y="27146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952875" y="32861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52875" y="38576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952875" y="44291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2185987"/>
            <a:ext cx="333375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Noto Sans KR"/>
              </a:rPr>
              <a:t>07.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690812"/>
            <a:ext cx="2900362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22222"/>
                </a:solidFill>
                <a:latin typeface="Noto Sans KR"/>
              </a:rPr>
              <a:t>데이터 분석</a:t>
            </a:r>
            <a:r>
              <a:t>
</a:t>
            </a:r>
            <a:r>
              <a:rPr sz="2700" b="1" i="0" u="none">
                <a:solidFill>
                  <a:srgbClr val="0F172A"/>
                </a:solidFill>
                <a:latin typeface="Noto Sans KR"/>
              </a:rPr>
              <a:t>핵심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986212"/>
            <a:ext cx="2762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66666"/>
                </a:solidFill>
                <a:latin typeface="Noto Sans KR"/>
              </a:rPr>
              <a:t>9만 건의 공공데이터 실측 분석을 통해 도출된 5대 핵심 엔지니어링 인사이트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0" y="2143125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Noto Sans K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1975" y="2171700"/>
            <a:ext cx="590568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응급실 과밀화 단순 경증:</a:t>
            </a:r>
            <a:r>
              <a:rPr sz="1350" b="1" i="0" u="none">
                <a:solidFill>
                  <a:srgbClr val="333333"/>
                </a:solidFill>
                <a:latin typeface="Noto Sans KR"/>
              </a:rPr>
              <a:t> 달빛병원 분산 유도로 골든타임 사수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4510" y="2185987"/>
            <a:ext cx="106501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B8A87"/>
                </a:solidFill>
                <a:latin typeface="Noto Sans KR"/>
              </a:rPr>
              <a:t>경증 74.0%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0" y="2714625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Noto Sans K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1975" y="2743200"/>
            <a:ext cx="605507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인근 약국 조기 마감 결함:</a:t>
            </a:r>
            <a:r>
              <a:rPr sz="1350" b="1" i="0" u="none">
                <a:solidFill>
                  <a:srgbClr val="333333"/>
                </a:solidFill>
                <a:latin typeface="Noto Sans KR"/>
              </a:rPr>
              <a:t> +30분 마진 안심약국 1:1 페어링 필수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4510" y="2757487"/>
            <a:ext cx="106501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B8A87"/>
                </a:solidFill>
                <a:latin typeface="Noto Sans KR"/>
              </a:rPr>
              <a:t>마감 42.6%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0" y="3286125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Noto Sans K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1975" y="3314700"/>
            <a:ext cx="61681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5분당 병상 변동률 5.8%:</a:t>
            </a:r>
            <a:r>
              <a:rPr sz="1350" b="1" i="0" u="none">
                <a:solidFill>
                  <a:srgbClr val="333333"/>
                </a:solidFill>
                <a:latin typeface="Noto Sans KR"/>
              </a:rPr>
              <a:t> In-Memory Hash Diffing DB 비용 절감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23760" y="3328987"/>
            <a:ext cx="111576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B8A87"/>
                </a:solidFill>
                <a:latin typeface="Noto Sans KR"/>
              </a:rPr>
              <a:t>절감 -93.9%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0" y="3857625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Noto Sans K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1975" y="3886200"/>
            <a:ext cx="616799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키워드 RAG 검색 한계 극복:</a:t>
            </a:r>
            <a:r>
              <a:rPr sz="1350" b="1" i="0" u="none">
                <a:solidFill>
                  <a:srgbClr val="333333"/>
                </a:solidFill>
                <a:latin typeface="Noto Sans KR"/>
              </a:rPr>
              <a:t> Gemini 3.8 Direct Grounding 채택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9960" y="3900487"/>
            <a:ext cx="103956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B8A87"/>
                </a:solidFill>
                <a:latin typeface="Noto Sans KR"/>
              </a:rPr>
              <a:t>168개 지침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0000" y="4429125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Noto Sans K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1975" y="4457700"/>
            <a:ext cx="587015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KR"/>
              </a:rPr>
              <a:t>비의료 AI 2대 리스크 차단:</a:t>
            </a:r>
            <a:r>
              <a:rPr sz="1350" b="1" i="0" u="none">
                <a:solidFill>
                  <a:srgbClr val="333333"/>
                </a:solidFill>
                <a:latin typeface="Noto Sans KR"/>
              </a:rPr>
              <a:t> 언더트리아제 방어 및 의료법 준수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2151" y="4471987"/>
            <a:ext cx="11273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B8A87"/>
                </a:solidFill>
                <a:latin typeface="Noto Sans KR"/>
              </a:rPr>
              <a:t>26µs 감시망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805237"/>
            <a:ext cx="1905000" cy="19050"/>
          </a:xfrm>
          <a:prstGeom prst="rect">
            <a:avLst/>
          </a:prstGeom>
          <a:solidFill>
            <a:srgbClr val="B8E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1173" y="2014537"/>
            <a:ext cx="2037903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29000" y="2586037"/>
            <a:ext cx="3962400" cy="2257425"/>
          </a:xfrm>
          <a:prstGeom prst="roundRect">
            <a:avLst>
              <a:gd name="adj" fmla="val 8438"/>
            </a:avLst>
          </a:prstGeom>
          <a:solidFill>
            <a:srgbClr val="FFFFFF"/>
          </a:solidFill>
          <a:ln w="190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33941" y="1714500"/>
            <a:ext cx="2334517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5A5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0" y="2286000"/>
            <a:ext cx="3962400" cy="2857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28575">
            <a:solidFill>
              <a:srgbClr val="45A5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508277" y="2109787"/>
            <a:ext cx="673149" cy="24765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32019" y="1809750"/>
            <a:ext cx="788789" cy="247650"/>
          </a:xfrm>
          <a:prstGeom prst="roundRect">
            <a:avLst>
              <a:gd name="adj" fmla="val 50000"/>
            </a:avLst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38550" y="2833687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38550" y="3338512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38550" y="3843337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38550" y="4348162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39075" y="26193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39075" y="3262312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39075" y="39052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839075" y="45624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45A5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600" y="2195512"/>
            <a:ext cx="309562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Noto Sans KR"/>
              </a:rPr>
              <a:t>08.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700337"/>
            <a:ext cx="2700337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KR"/>
              </a:rPr>
              <a:t>고도화 방안</a:t>
            </a:r>
            <a:r>
              <a:t>
</a:t>
            </a:r>
            <a:r>
              <a:rPr sz="2700" b="1" i="0" u="none">
                <a:solidFill>
                  <a:srgbClr val="222222"/>
                </a:solidFill>
                <a:latin typeface="Noto Sans KR"/>
              </a:rPr>
              <a:t> 비교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976687"/>
            <a:ext cx="2571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66666"/>
                </a:solidFill>
                <a:latin typeface="Noto Sans KR"/>
              </a:rPr>
              <a:t>기존 의료 서비스 한계점(AS-IS)과 아이숨의 엔지니어링 개선 방향(TO-BE)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8823" y="2109787"/>
            <a:ext cx="105995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3333"/>
                </a:solidFill>
                <a:latin typeface="Noto Sans KR"/>
              </a:rPr>
              <a:t>기존 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627" y="2147887"/>
            <a:ext cx="50169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Noto Sans KR"/>
              </a:rPr>
              <a:t>AS-IS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1591" y="1809750"/>
            <a:ext cx="124092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22222"/>
                </a:solidFill>
                <a:latin typeface="Noto Sans KR"/>
              </a:rPr>
              <a:t>고도화 개선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5369" y="1847850"/>
            <a:ext cx="61733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Noto Sans KR"/>
              </a:rPr>
              <a:t>TO-BE!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5675" y="2833687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500" y="2857500"/>
            <a:ext cx="373595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55555"/>
                </a:solidFill>
                <a:latin typeface="Noto Sans KR"/>
              </a:rPr>
              <a:t>단순 지도 검색 (야간 소청과 당직 확인 불가)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5675" y="3338512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3362325"/>
            <a:ext cx="38313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55555"/>
                </a:solidFill>
                <a:latin typeface="Noto Sans KR"/>
              </a:rPr>
              <a:t>키워드 RAG 챗봇 환각 및 일상어 임상 오분류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5675" y="3843337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500" y="3867150"/>
            <a:ext cx="360908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55555"/>
                </a:solidFill>
                <a:latin typeface="Noto Sans KR"/>
              </a:rPr>
              <a:t>공공 API 장애 시 전체 서비스 중단 (SPOF)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5675" y="4348162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Noto Sans K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371975"/>
            <a:ext cx="379958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55555"/>
                </a:solidFill>
                <a:latin typeface="Noto Sans KR"/>
              </a:rPr>
              <a:t>인근 약국 조기 마감으로 심야 조제 단절 발생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6200" y="2619375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Noto Sans KR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1025" y="2543175"/>
            <a:ext cx="3257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22222"/>
                </a:solidFill>
                <a:latin typeface="Noto Sans KR"/>
              </a:rPr>
              <a:t>E-Gen 실시간 병상 연동 소아응급실 자동 라우팅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6200" y="3262312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Noto Sans KR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1025" y="3200400"/>
            <a:ext cx="32575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22222"/>
                </a:solidFill>
                <a:latin typeface="Noto Sans KR"/>
              </a:rPr>
              <a:t>KTAS 168개 지침 Grounding &amp; 언더트리아제 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6200" y="3905250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Noto Sans KR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1025" y="3829050"/>
            <a:ext cx="3257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22222"/>
                </a:solidFill>
                <a:latin typeface="Noto Sans KR"/>
              </a:rPr>
              <a:t>3-State 서킷 브레이커 &amp; 3-Tier 0ms 무중단 폴백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6200" y="4562475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Noto Sans KR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1025" y="4486275"/>
            <a:ext cx="3257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22222"/>
                </a:solidFill>
                <a:latin typeface="Noto Sans KR"/>
              </a:rPr>
              <a:t>156개 달빛병원 + 30분 마진 안심약국 1:1 매칭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77144" y="6010275"/>
            <a:ext cx="8837711" cy="390525"/>
          </a:xfrm>
          <a:prstGeom prst="roundRect">
            <a:avLst>
              <a:gd name="adj" fmla="val 50000"/>
            </a:avLst>
          </a:prstGeom>
          <a:solidFill>
            <a:srgbClr val="F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476" y="3171825"/>
            <a:ext cx="266848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501" y="3171825"/>
            <a:ext cx="266848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526" y="3171825"/>
            <a:ext cx="266848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13" y="2409825"/>
            <a:ext cx="1600200" cy="1600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238" y="2419350"/>
            <a:ext cx="1600200" cy="1600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263" y="2409825"/>
            <a:ext cx="1600200" cy="1600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6288" y="2409825"/>
            <a:ext cx="1600200" cy="1600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0044" y="6119812"/>
            <a:ext cx="133498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2581" y="2962275"/>
            <a:ext cx="385316" cy="495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9606" y="2971800"/>
            <a:ext cx="385316" cy="495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6631" y="2962275"/>
            <a:ext cx="385316" cy="495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3656" y="2962275"/>
            <a:ext cx="385316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09.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84772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222222"/>
                </a:solidFill>
                <a:latin typeface="Noto Sans KR"/>
              </a:rPr>
              <a:t>고도화 </a:t>
            </a:r>
            <a:r>
              <a:rPr sz="2550" b="1" i="0" u="none">
                <a:solidFill>
                  <a:srgbClr val="0F172A"/>
                </a:solidFill>
                <a:latin typeface="Noto Sans KR"/>
              </a:rPr>
              <a:t>추진 로드맵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30" y="4143375"/>
            <a:ext cx="253371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Noto Sans KR"/>
              </a:rPr>
              <a:t>1단계 : 기반 구축 (완료)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639" y="4524375"/>
            <a:ext cx="228934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555555"/>
                </a:solidFill>
                <a:latin typeface="Noto Sans KR"/>
              </a:rPr>
              <a:t>9.4만 건 공공데이터 정제</a:t>
            </a:r>
            <a:r>
              <a:t>
</a:t>
            </a:r>
            <a:r>
              <a:rPr sz="1125" b="0" i="0" u="none">
                <a:solidFill>
                  <a:srgbClr val="555555"/>
                </a:solidFill>
                <a:latin typeface="Noto Sans KR"/>
              </a:rPr>
              <a:t> Hash Diffing &amp; 0ms 가드레일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6790" y="4152900"/>
            <a:ext cx="277124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Noto Sans KR"/>
              </a:rPr>
              <a:t>2단계 : AI 에이전트 (완료)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7101" y="4533900"/>
            <a:ext cx="213047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555555"/>
                </a:solidFill>
                <a:latin typeface="Noto Sans KR"/>
              </a:rPr>
              <a:t>Supervisor 6-State FSM</a:t>
            </a:r>
            <a:r>
              <a:t>
</a:t>
            </a:r>
            <a:r>
              <a:rPr sz="1125" b="0" i="0" u="none">
                <a:solidFill>
                  <a:srgbClr val="555555"/>
                </a:solidFill>
                <a:latin typeface="Noto Sans KR"/>
              </a:rPr>
              <a:t> Gemini 3.8 KTAS 트리아제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3815" y="4143375"/>
            <a:ext cx="277124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Noto Sans KR"/>
              </a:rPr>
              <a:t>3단계 : 풀스택 서빙 (완료)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4549" y="4524375"/>
            <a:ext cx="226962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555555"/>
                </a:solidFill>
                <a:latin typeface="Noto Sans KR"/>
              </a:rPr>
              <a:t>FastAPI &amp; 토스 TDS 웹앱</a:t>
            </a:r>
            <a:r>
              <a:t>
</a:t>
            </a:r>
            <a:r>
              <a:rPr sz="1125" b="0" i="0" u="none">
                <a:solidFill>
                  <a:srgbClr val="555555"/>
                </a:solidFill>
                <a:latin typeface="Noto Sans KR"/>
              </a:rPr>
              <a:t> GCP Cloud Run 무중단 배포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9605" y="4143375"/>
            <a:ext cx="253371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Noto Sans KR"/>
              </a:rPr>
              <a:t>4단계 : 전국 확장 (차기)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9412" y="4524375"/>
            <a:ext cx="2154101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555555"/>
                </a:solidFill>
                <a:latin typeface="Noto Sans KR"/>
              </a:rPr>
              <a:t>호흡음 Multimodal Audio AI</a:t>
            </a:r>
            <a:r>
              <a:t>
</a:t>
            </a:r>
            <a:r>
              <a:rPr sz="1125" b="0" i="0" u="none">
                <a:solidFill>
                  <a:srgbClr val="555555"/>
                </a:solidFill>
                <a:latin typeface="Noto Sans KR"/>
              </a:rPr>
              <a:t> 전국 17개 시도 관제 연계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8792" y="6105525"/>
            <a:ext cx="990395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555555"/>
                </a:solidFill>
                <a:latin typeface="Noto Sans KR"/>
              </a:rPr>
              <a:t>상용 SaaS 프로덕트 레벨 완성: 128개 pytest 단위/통합 테스트 100% 통과 &amp; GCP Cloud Run 실서버 24시간 가동 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8B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19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816375" y="2147887"/>
            <a:ext cx="2559099" cy="647700"/>
          </a:xfrm>
          <a:prstGeom prst="roundRect">
            <a:avLst>
              <a:gd name="adj" fmla="val 29411"/>
            </a:avLst>
          </a:prstGeom>
          <a:solidFill>
            <a:srgbClr val="F4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075" y="2281237"/>
            <a:ext cx="3810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5456" y="3182650"/>
            <a:ext cx="11800935" cy="2739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 dirty="0" err="1" smtClean="0">
                <a:solidFill>
                  <a:srgbClr val="FFFFFF"/>
                </a:solidFill>
                <a:latin typeface="Noto Sans KR"/>
              </a:rPr>
              <a:t>아이들</a:t>
            </a:r>
            <a:r>
              <a:rPr lang="ko-KR" altLang="en-US" sz="3300" b="1" i="0" u="none" dirty="0" smtClean="0">
                <a:solidFill>
                  <a:srgbClr val="FFFFFF"/>
                </a:solidFill>
                <a:latin typeface="Noto Sans KR"/>
              </a:rPr>
              <a:t>이 숨쉬는 공간 </a:t>
            </a:r>
            <a:r>
              <a:rPr lang="en-US" altLang="ko-KR" sz="3300" b="1" dirty="0" smtClean="0">
                <a:solidFill>
                  <a:srgbClr val="FFFFFF"/>
                </a:solidFill>
                <a:latin typeface="Noto Sans KR"/>
              </a:rPr>
              <a:t>ISOOM</a:t>
            </a:r>
            <a:r>
              <a:rPr lang="ko-KR" altLang="en-US" sz="3300" b="1" i="0" u="none" dirty="0" smtClean="0">
                <a:solidFill>
                  <a:srgbClr val="FFFFFF"/>
                </a:solidFill>
                <a:latin typeface="Noto Sans KR"/>
              </a:rPr>
              <a:t> </a:t>
            </a:r>
            <a:r>
              <a:rPr dirty="0"/>
              <a:t>
</a:t>
            </a:r>
            <a:r>
              <a:rPr sz="3300" b="1" i="0" u="none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300" b="1" i="0" u="none" dirty="0" err="1">
                <a:solidFill>
                  <a:srgbClr val="FFFFFF"/>
                </a:solidFill>
                <a:latin typeface="Noto Sans KR"/>
              </a:rPr>
              <a:t>경청해</a:t>
            </a:r>
            <a:r>
              <a:rPr sz="3300" b="1" i="0" u="none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300" b="1" i="0" u="none" dirty="0" err="1">
                <a:solidFill>
                  <a:srgbClr val="FFFFFF"/>
                </a:solidFill>
                <a:latin typeface="Noto Sans KR"/>
              </a:rPr>
              <a:t>주셔서</a:t>
            </a:r>
            <a:r>
              <a:rPr sz="3300" b="1" i="0" u="none" dirty="0">
                <a:solidFill>
                  <a:srgbClr val="FFFFFF"/>
                </a:solidFill>
                <a:latin typeface="Noto Sans KR"/>
              </a:rPr>
              <a:t> </a:t>
            </a:r>
            <a:r>
              <a:rPr sz="3300" b="1" i="0" u="none" dirty="0" err="1">
                <a:solidFill>
                  <a:srgbClr val="FFFFFF"/>
                </a:solidFill>
                <a:latin typeface="Noto Sans KR"/>
              </a:rPr>
              <a:t>감사합니다</a:t>
            </a:r>
            <a:r>
              <a:rPr sz="3300" b="1" i="0" u="none" dirty="0">
                <a:solidFill>
                  <a:srgbClr val="FFFFFF"/>
                </a:solidFill>
                <a:latin typeface="Noto Sans KR"/>
              </a:rPr>
              <a:t> </a:t>
            </a:r>
            <a:endParaRPr lang="en-US" sz="3300" b="1" i="0" u="none" dirty="0" smtClean="0">
              <a:solidFill>
                <a:srgbClr val="FFFFFF"/>
              </a:solidFill>
              <a:latin typeface="Noto Sans KR"/>
            </a:endParaRPr>
          </a:p>
          <a:p>
            <a:pPr algn="ctr"/>
            <a:endParaRPr lang="en-US" sz="3300" b="1" dirty="0">
              <a:solidFill>
                <a:srgbClr val="FFFFFF"/>
              </a:solidFill>
              <a:latin typeface="Noto Sans KR"/>
            </a:endParaRPr>
          </a:p>
          <a:p>
            <a:pPr algn="ctr"/>
            <a:endParaRPr lang="en-US" sz="3300" b="1" i="0" u="none" dirty="0" smtClean="0">
              <a:solidFill>
                <a:srgbClr val="FFFFFF"/>
              </a:solidFill>
              <a:latin typeface="Noto Sans KR"/>
            </a:endParaRPr>
          </a:p>
          <a:p>
            <a:pPr algn="ctr"/>
            <a:r>
              <a:rPr lang="en-US" altLang="ko-KR" sz="1300" b="1" dirty="0" smtClean="0">
                <a:solidFill>
                  <a:srgbClr val="FFFFFF"/>
                </a:solidFill>
                <a:latin typeface="Noto Sans KR"/>
                <a:hlinkClick r:id="rId4"/>
              </a:rPr>
              <a:t>ISOOM(</a:t>
            </a:r>
            <a:r>
              <a:rPr lang="ko-KR" altLang="en-US" sz="1300" b="1" dirty="0" err="1" smtClean="0">
                <a:solidFill>
                  <a:srgbClr val="FFFFFF"/>
                </a:solidFill>
                <a:latin typeface="Noto Sans KR"/>
                <a:hlinkClick r:id="rId4"/>
              </a:rPr>
              <a:t>아이숨</a:t>
            </a:r>
            <a:r>
              <a:rPr lang="en-US" altLang="ko-KR" sz="1300" b="1" dirty="0" smtClean="0">
                <a:solidFill>
                  <a:srgbClr val="FFFFFF"/>
                </a:solidFill>
                <a:latin typeface="Noto Sans KR"/>
                <a:hlinkClick r:id="rId4"/>
              </a:rPr>
              <a:t>)</a:t>
            </a:r>
            <a:endParaRPr lang="en-US" altLang="ko-KR" sz="1300" b="1" dirty="0">
              <a:solidFill>
                <a:srgbClr val="FFFFFF"/>
              </a:solidFill>
              <a:latin typeface="Noto Sans KR"/>
            </a:endParaRPr>
          </a:p>
          <a:p>
            <a:pPr algn="ctr"/>
            <a:r>
              <a:rPr lang="en-US" sz="3300" b="1" i="0" u="none" dirty="0" smtClean="0">
                <a:solidFill>
                  <a:srgbClr val="FFFFFF"/>
                </a:solidFill>
                <a:latin typeface="Noto Sans KR"/>
              </a:rPr>
              <a:t>	</a:t>
            </a:r>
            <a:endParaRPr sz="3300" b="1" i="0" u="none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08507" y="2319337"/>
            <a:ext cx="188918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2B8A87"/>
                </a:solidFill>
                <a:latin typeface="Noto Sans KR"/>
              </a:rPr>
              <a:t>ISOOM 아이숨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922</Words>
  <Application>Microsoft Office PowerPoint</Application>
  <PresentationFormat>와이드스크린</PresentationFormat>
  <Paragraphs>155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Noto Sans KR</vt:lpstr>
      <vt:lpstr>Arial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KIM DONGJUN</dc:creator>
  <cp:keywords/>
  <dc:description>generated using python-pptx</dc:description>
  <cp:lastModifiedBy>KIM DONGJUN</cp:lastModifiedBy>
  <cp:revision>15</cp:revision>
  <dcterms:created xsi:type="dcterms:W3CDTF">2013-01-27T09:14:16Z</dcterms:created>
  <dcterms:modified xsi:type="dcterms:W3CDTF">2026-10-20T01:37:39Z</dcterms:modified>
  <cp:category/>
</cp:coreProperties>
</file>